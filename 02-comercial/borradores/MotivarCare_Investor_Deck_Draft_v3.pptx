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9f6deb71464c51" /><Relationship Type="http://schemas.openxmlformats.org/officeDocument/2006/relationships/extended-properties" Target="/docProps/app.xml" Id="R38b293bb29614288" /><Relationship Type="http://schemas.openxmlformats.org/officeDocument/2006/relationships/officeDocument" Target="/ppt/presentation.xml" Id="R2317ee864f4f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a4fc241c94f92"/>
  </p:sldMasterIdLst>
  <p:notesMasterIdLst>
    <p:notesMasterId xmlns:r="http://schemas.openxmlformats.org/officeDocument/2006/relationships" r:id="R0dc31825e0cf415a"/>
  </p:notesMasterIdLst>
  <p:sldIdLst>
    <p:sldId xmlns:r="http://schemas.openxmlformats.org/officeDocument/2006/relationships" id="256" r:id="R940ac911736547bc"/>
    <p:sldId xmlns:r="http://schemas.openxmlformats.org/officeDocument/2006/relationships" id="257" r:id="Rc95de486a3144d82"/>
    <p:sldId xmlns:r="http://schemas.openxmlformats.org/officeDocument/2006/relationships" id="258" r:id="R81443d50362d4c67"/>
    <p:sldId xmlns:r="http://schemas.openxmlformats.org/officeDocument/2006/relationships" id="259" r:id="R38b1ddad3e754a83"/>
    <p:sldId xmlns:r="http://schemas.openxmlformats.org/officeDocument/2006/relationships" id="260" r:id="R2d0b89958d814249"/>
    <p:sldId xmlns:r="http://schemas.openxmlformats.org/officeDocument/2006/relationships" id="261" r:id="Rd89e4d372aa549f0"/>
    <p:sldId xmlns:r="http://schemas.openxmlformats.org/officeDocument/2006/relationships" id="262" r:id="R241f6c63166747ac"/>
    <p:sldId xmlns:r="http://schemas.openxmlformats.org/officeDocument/2006/relationships" id="263" r:id="R7d3da9be146d48dc"/>
    <p:sldId xmlns:r="http://schemas.openxmlformats.org/officeDocument/2006/relationships" id="264" r:id="R2db69eff26a4468d"/>
    <p:sldId xmlns:r="http://schemas.openxmlformats.org/officeDocument/2006/relationships" id="265" r:id="Rbdb70920f2404722"/>
    <p:sldId xmlns:r="http://schemas.openxmlformats.org/officeDocument/2006/relationships" id="266" r:id="Rea056bba689f44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2e24cb3584712" /><Relationship Type="http://schemas.openxmlformats.org/officeDocument/2006/relationships/slideMaster" Target="/ppt/slideMasters/slideMaster1.xml" Id="Ra24a4fc241c94f92" /><Relationship Type="http://schemas.openxmlformats.org/officeDocument/2006/relationships/notesMaster" Target="/ppt/notesMasters/notesMaster1.xml" Id="R0dc31825e0cf415a" /><Relationship Type="http://schemas.openxmlformats.org/officeDocument/2006/relationships/presProps" Target="/ppt/presProps.xml" Id="R86db0b430a7c47f1" /><Relationship Type="http://schemas.openxmlformats.org/officeDocument/2006/relationships/tableStyles" Target="/ppt/tableStyles.xml" Id="Rae3b9977c8394de8" /><Relationship Type="http://schemas.openxmlformats.org/officeDocument/2006/relationships/slide" Target="/ppt/slides/slide1.xml" Id="R940ac911736547bc" /><Relationship Type="http://schemas.openxmlformats.org/officeDocument/2006/relationships/slide" Target="/ppt/slides/slide2.xml" Id="Rc95de486a3144d82" /><Relationship Type="http://schemas.openxmlformats.org/officeDocument/2006/relationships/slide" Target="/ppt/slides/slide3.xml" Id="R81443d50362d4c67" /><Relationship Type="http://schemas.openxmlformats.org/officeDocument/2006/relationships/slide" Target="/ppt/slides/slide4.xml" Id="R38b1ddad3e754a83" /><Relationship Type="http://schemas.openxmlformats.org/officeDocument/2006/relationships/slide" Target="/ppt/slides/slide5.xml" Id="R2d0b89958d814249" /><Relationship Type="http://schemas.openxmlformats.org/officeDocument/2006/relationships/slide" Target="/ppt/slides/slide6.xml" Id="Rd89e4d372aa549f0" /><Relationship Type="http://schemas.openxmlformats.org/officeDocument/2006/relationships/slide" Target="/ppt/slides/slide7.xml" Id="R241f6c63166747ac" /><Relationship Type="http://schemas.openxmlformats.org/officeDocument/2006/relationships/slide" Target="/ppt/slides/slide8.xml" Id="R7d3da9be146d48dc" /><Relationship Type="http://schemas.openxmlformats.org/officeDocument/2006/relationships/slide" Target="/ppt/slides/slide9.xml" Id="R2db69eff26a4468d" /><Relationship Type="http://schemas.openxmlformats.org/officeDocument/2006/relationships/slide" Target="/ppt/slides/slide10.xml" Id="Rbdb70920f2404722" /><Relationship Type="http://schemas.openxmlformats.org/officeDocument/2006/relationships/slide" Target="/ppt/slides/slide11.xml" Id="Rea056bba689f44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acbc940e934d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c8216f04744ed3" /><Relationship Type="http://schemas.openxmlformats.org/officeDocument/2006/relationships/notesMaster" Target="/ppt/notesMasters/notesMaster1.xml" Id="R5679e1cde09f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b276fe5ffd4316" /><Relationship Type="http://schemas.openxmlformats.org/officeDocument/2006/relationships/notesMaster" Target="/ppt/notesMasters/notesMaster1.xml" Id="Rb8447512167a47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f18dd7d5554bbc" /><Relationship Type="http://schemas.openxmlformats.org/officeDocument/2006/relationships/notesMaster" Target="/ppt/notesMasters/notesMaster1.xml" Id="R811548141b6b45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e13a6f2f7847d0" /><Relationship Type="http://schemas.openxmlformats.org/officeDocument/2006/relationships/notesMaster" Target="/ppt/notesMasters/notesMaster1.xml" Id="Rcb2b05ebe99144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69163e02424265" /><Relationship Type="http://schemas.openxmlformats.org/officeDocument/2006/relationships/notesMaster" Target="/ppt/notesMasters/notesMaster1.xml" Id="Raf977cf4f1b444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9f554c3d554571" /><Relationship Type="http://schemas.openxmlformats.org/officeDocument/2006/relationships/notesMaster" Target="/ppt/notesMasters/notesMaster1.xml" Id="R338d219dbc0e43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53896725484cb8" /><Relationship Type="http://schemas.openxmlformats.org/officeDocument/2006/relationships/notesMaster" Target="/ppt/notesMasters/notesMaster1.xml" Id="R60a5ecfb0a4945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999b2dcda941b9" /><Relationship Type="http://schemas.openxmlformats.org/officeDocument/2006/relationships/notesMaster" Target="/ppt/notesMasters/notesMaster1.xml" Id="Rae1f0ad91ae643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e150573a134e0b" /><Relationship Type="http://schemas.openxmlformats.org/officeDocument/2006/relationships/notesMaster" Target="/ppt/notesMasters/notesMaster1.xml" Id="R4472b01524d84f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88fb72e0084bd4" /><Relationship Type="http://schemas.openxmlformats.org/officeDocument/2006/relationships/notesMaster" Target="/ppt/notesMasters/notesMaster1.xml" Id="Ra2be13c1385e4b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2c334700454b46" /><Relationship Type="http://schemas.openxmlformats.org/officeDocument/2006/relationships/notesMaster" Target="/ppt/notesMasters/notesMaster1.xml" Id="Rab94365a6a524f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Deck de trabajo para una primera conversación con inversores. La marca y el posicionamiento se basan en motivarcare.com, consultado el 29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Síntesis estratégica del plan de negocio de MotivarCare.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recorrido toma los cuatro pasos públicos de la web y suma las funciones de continuidad descritas por el equipo: diario voluntario, ejercicios de respiración, audio y chat de IA. Fuente del recorrido público: https://www.motivarcare.com/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web describe a Maca como chat disponible y aclara que la atención clínica la realiza un psicólogo matriculado. El plan recomienda límites explícitos para IA, supervisión profesional, privacidad reforzada y protocolo de crisis. Fuente: https://www.motivarcare.com/ y plan de negocio.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Secuencia del plan de negocio. Estados Unidos se trata como etapa de largo plazo por requisitos profesionales que dependen del estado y la ubicación del paciente.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web publica para Argentina un precio de referencia desde ARS 40.000 por sesión estándar de 50 minutos y aclara que cambia según experiencia y enfoque. El take rate del 15–25% figura como hipótesis en el plan y no como una tarifa aprobada. Fuente: https://www.motivarcare.com/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tamaños de cohortes, canales y umbrales son metas de trabajo del plan, no resultados actuales.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web pública presenta el flujo, acceso a los portales, precio de referencia y reseñas de usuarios. El plan de negocio comunica transacciones piloto y etapa de estabilización. No hay cifras de pacientes, conversión, CAC o retención disponibles en las fuentes consultadas, por lo que deben completarse con datos internos. Fuente: https://www.motivarcare.com/ y plan de negocio.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Cálculo ilustrativo: 100, 500 y 1.000 pacientes activos × 2 sesiones/mes × ARS 40.000 por sesión × 20% de comisión = ARS 1,6 M, ARS 8 M y ARS 16 M por mes. El precio web es “desde” y varía por profesional; el take rate de 20% está dentro del rango hipotético 15–25% del plan, pero no está aprobado. Importes brutos de comisión antes de procesamiento de pagos, devoluciones, soporte e impuestos. Fuentes: https://www.motivarcare.com/ y plan de negocio.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horizonte y la distribución de capital son recomendaciones del plan, no decisiones aprobadas. Completar monto, moneda, runway, metas y equipo antes de enviar el deck a inversores.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de cierre. Reemplazar el dato de contacto antes de compartir.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8523d64ae4e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95aefcef154575" /><Relationship Type="http://schemas.openxmlformats.org/officeDocument/2006/relationships/slideLayout" Target="/ppt/slideLayouts/slideLayout1.xml" Id="R33f63bf8cb6244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f63bf8cb6244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a2a2db7004a93" /><Relationship Type="http://schemas.openxmlformats.org/officeDocument/2006/relationships/notesSlide" Target="/ppt/notesSlides/notesSlide1.xml" Id="Rfb7a4cb1e10449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5c35ea1504031" /><Relationship Type="http://schemas.openxmlformats.org/officeDocument/2006/relationships/notesSlide" Target="/ppt/notesSlides/notesSlide2.xml" Id="Rc16b9951272544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acc9ffd724284" /><Relationship Type="http://schemas.openxmlformats.org/officeDocument/2006/relationships/notesSlide" Target="/ppt/notesSlides/notesSlide3.xml" Id="R48b23143da9f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2fd56f3454d37" /><Relationship Type="http://schemas.openxmlformats.org/officeDocument/2006/relationships/notesSlide" Target="/ppt/notesSlides/notesSlide4.xml" Id="R6f2c933a1f0f47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dffb271e24cde" /><Relationship Type="http://schemas.openxmlformats.org/officeDocument/2006/relationships/notesSlide" Target="/ppt/notesSlides/notesSlide5.xml" Id="R0d60997c77ba44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39f27fba84520" /><Relationship Type="http://schemas.openxmlformats.org/officeDocument/2006/relationships/notesSlide" Target="/ppt/notesSlides/notesSlide6.xml" Id="R6a43be77a08b42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9961742b44fea" /><Relationship Type="http://schemas.openxmlformats.org/officeDocument/2006/relationships/notesSlide" Target="/ppt/notesSlides/notesSlide7.xml" Id="Rf191ab97a18540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ca74fadfc478d" /><Relationship Type="http://schemas.openxmlformats.org/officeDocument/2006/relationships/notesSlide" Target="/ppt/notesSlides/notesSlide8.xml" Id="R42feb4aa05804e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0bcffc9844526" /><Relationship Type="http://schemas.openxmlformats.org/officeDocument/2006/relationships/chart" Target="/ppt/slides/charts/chart1.xml" Id="R8ba138ded11443a6" /><Relationship Type="http://schemas.openxmlformats.org/officeDocument/2006/relationships/notesSlide" Target="/ppt/notesSlides/notesSlide9.xml" Id="R7996066f9d6442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cc219388a434d" /><Relationship Type="http://schemas.openxmlformats.org/officeDocument/2006/relationships/notesSlide" Target="/ppt/notesSlides/notesSlide10.xml" Id="R440de295e63c48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721dda3a84979" /><Relationship Type="http://schemas.openxmlformats.org/officeDocument/2006/relationships/notesSlide" Target="/ppt/notesSlides/notesSlide11.xml" Id="Rd7335fc968e44b8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Comisión teórica</c:v>
          </c:tx>
          <c:spPr>
            <a:solidFill xmlns:a="http://schemas.openxmlformats.org/drawingml/2006/main">
              <a:srgbClr val="316CE8"/>
            </a:solidFill>
          </c:spPr>
          <c:cat>
            <c:strLit>
              <c:ptCount val="3"/>
              <c:pt idx="0">
                <c:v>100 pacientes</c:v>
              </c:pt>
              <c:pt idx="1">
                <c:v>500 pacientes</c:v>
              </c:pt>
              <c:pt idx="2">
                <c:v>1.000 pacientes</c:v>
              </c:pt>
            </c:strLit>
          </c:cat>
          <c:val>
            <c:numLit>
              <c:formatCode>0.0</c:formatCode>
              <c:ptCount val="3"/>
              <c:pt idx="0">
                <c:v>1.6</c:v>
              </c:pt>
              <c:pt idx="1">
                <c:v>8</c:v>
              </c:pt>
              <c:pt idx="2">
                <c:v>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83C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A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6F7C8C"/>
                    </a:solidFill>
                    <a:latin typeface="DejaVu Sans"/>
                    <a:ea typeface="DejaVu Sans"/>
                    <a:cs typeface="DejaVu Sans"/>
                  </a:rPr>
                  <a:t>ARS millones / mes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6F7C8C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F6A5E-009B-471E-8DF3-E21E0B17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9EA95-A61F-407F-ABD8-B8750B37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CA8D0-C145-4B99-8928-20EEF410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6F9EB-10A9-4FCC-B6E2-F80BE744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10477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Terapia que se adapta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 ritmo de cada persona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0B016-0A2E-4124-B263-2A6D12FB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7D7E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7D7E8"/>
                </a:solidFill>
                <a:latin typeface="DejaVu Sans"/>
                <a:ea typeface="DejaVu Sans"/>
                <a:cs typeface="DejaVu Sans"/>
              </a:rPr>
              <a:t>Plan de inversión · Argentina primero · Expansión por etapas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3EAC1-5CA7-4BF9-A009-14A8D347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7823B-2952-4BD0-8E35-4B20A0AC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958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047E2-2897-43B2-8D13-6425546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95850"/>
            <a:ext cx="57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0E2B4-E0E8-46E0-92EA-63C337E5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7E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7D7E8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</p:spTree>
    <p:extLst>
      <p:ext uri="{BB962C8B-B14F-4D97-AF65-F5344CB8AC3E}">
        <p14:creationId xmlns:p14="http://schemas.microsoft.com/office/powerpoint/2010/main" val="886070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BEC6C-8C6F-4531-A52D-B65DE815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1095C-FE25-4140-A7BC-CC809BBA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NECESIDAD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CE5E5-73B5-4D6E-B4AE-B1201215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La búsqueda de terapia sigue fragmentada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46222-6536-4F0C-9932-E949BF79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16A53-41D1-4C62-870F-CC3D10A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565F1-E68B-493B-AFD9-271F0FE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Investor deck · Septiembre 2026 ·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BE187-9A6E-4319-87A1-14C113CF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6C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316CE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276F1-4D44-4F54-B180-6D07739D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Encontrar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1F192-211E-42EB-A12A-9806E41B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Elegir un profesional compatible entre opciones dispersas y poca información clara.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A8E93-E631-4B47-8943-70957E9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07360-9C34-4A45-ADA1-E24961E9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9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75EA2-A7B3-490F-99DD-AE72076F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Coordinar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E71BC-D1E6-4497-ADE1-8A0471D1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Resolver horarios, pagos y confirmaciones por canales separados.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69EF2-9F2B-49D4-84F4-8B208A9E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149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2AF07-0BD5-461B-939C-66A6F996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736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2736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A1441-3575-4DEE-825D-11E78AAF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Sostener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D6244-15C3-4D60-9D4F-C6094144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Mantener continuidad y hábitos de bienestar entre una sesión y la siguiente.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B5929-EC3F-4320-A3A1-41CFEC19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47A20-F806-4814-B13F-83934693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6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 reúne el recorrido en una sola experiencia digital para pacientes y profesionales.</a:t>
            </a:r>
          </a:p>
        </p:txBody>
      </p:sp>
    </p:spTree>
    <p:extLst>
      <p:ext uri="{BB962C8B-B14F-4D97-AF65-F5344CB8AC3E}">
        <p14:creationId xmlns:p14="http://schemas.microsoft.com/office/powerpoint/2010/main" val="437530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2788C-511C-4942-A14A-DBAC89D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39507-CE96-402F-A3E3-B253E784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PRODUCTO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15067-0A53-4B5F-86B4-66D9ACA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De intake a continuidad, en cuatro pasos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E259E-4A9C-47AE-A3D9-E5E63D97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D0417-6901-43FE-BEE4-842A435A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0450B-7D81-4B84-B353-D408EA29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Investor deck · Septiembre 2026 ·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93C00-1487-4D67-B46B-4712512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987FB-557A-4AF1-98FA-CF9E2035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4BAF9-FBE0-421C-8C6B-E4AC60EB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2159F-A650-4EBD-95CC-5F316AC7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Intake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523DB-EB75-4017-8F90-878E8CC1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2100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Paciente y profesional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D0867-7003-4685-9FDD-749AD8C3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C252E-4C1B-4CCD-8B15-7E54F95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27645-3336-4F2B-8DF2-8ED305B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Matching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905CB-215F-411B-89E2-9578B6F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100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Opciones compatibles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1CE51-D819-450A-B8D7-7B0BC76A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D45D1-C5C2-42C9-B95E-5BB195A2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7731D-717A-40FC-B73B-098D1EC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Reserva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C2417-ADC4-4294-B486-7B15A749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Agenda y pago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917EF-17F9-48D4-BD01-1D8E2F7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ED44F-1B83-46C9-A8F5-37559164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48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0D704-B20A-49FF-BB5B-E680919F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Sesión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CBBD3-0ED5-4E46-B930-C8D4FC2B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51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Encuentro online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A1791-7F02-42EA-896B-A2587C64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CC382-1DB9-4892-86B1-5234F2BF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Entre sesiones: diario voluntario · respiración · audio · chat de IA Maca</a:t>
            </a:r>
          </a:p>
        </p:txBody>
      </p:sp>
    </p:spTree>
    <p:extLst>
      <p:ext uri="{BB962C8B-B14F-4D97-AF65-F5344CB8AC3E}">
        <p14:creationId xmlns:p14="http://schemas.microsoft.com/office/powerpoint/2010/main" val="2108183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7F31E-FE90-4899-AA52-72C3CCD5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CBB84-D102-47AF-A146-D4E7CB9E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CONFIANZA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D393B-609D-4F26-82E0-7A4920A3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El profesional mantiene el rol clínico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E11A5-5730-44AC-8B67-9A9796DC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1296D-DD1F-44ED-AFD3-A23DBD41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5249D-066A-40EE-BF04-71A256C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Investor deck · Septiembre 2026 ·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BDAB8-BEE5-4A73-83C4-FA3BCF13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5095875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DD54C-DB35-4202-8514-D5E05B44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5095875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3791A-CACF-45AB-8ED2-B6EDC897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6C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316CE8"/>
                </a:solidFill>
                <a:latin typeface="DejaVu Sans"/>
                <a:ea typeface="DejaVu Sans"/>
                <a:cs typeface="DejaVu Sans"/>
              </a:rPr>
              <a:t>PSICÓLOGO/A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A689B-5862-4C63-BA74-737A0B3F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Atención clínica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867DD-20F3-4D5E-9CE1-E6613C0F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Profesional matriculado</a:t>
            </a:r>
          </a:p>
          <a:p xmlns:a="http://schemas.openxmlformats.org/drawingml/2006/main">
            <a:pPr algn="l">
              <a:def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Sesiones y criterio clínico</a:t>
            </a:r>
          </a:p>
          <a:p xmlns:a="http://schemas.openxmlformats.org/drawingml/2006/main">
            <a:pPr algn="l">
              <a:def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Relación terapéutica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6DB4D-91FC-4CD1-94C7-1B5D313C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8A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98A72"/>
                </a:solidFill>
                <a:latin typeface="DejaVu Sans"/>
                <a:ea typeface="DejaVu Sans"/>
                <a:cs typeface="DejaVu Sans"/>
              </a:rPr>
              <a:t>MACA · 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FE328-B0FA-4649-869A-B0914A17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Apoyo entre sesiones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D9009-E103-44B9-BA43-E0E55C2F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Orientación y reflexión</a:t>
            </a:r>
          </a:p>
          <a:p xmlns:a="http://schemas.openxmlformats.org/drawingml/2006/main">
            <a:pPr algn="l">
              <a:def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Matching según preferencias</a:t>
            </a:r>
          </a:p>
          <a:p xmlns:a="http://schemas.openxmlformats.org/drawingml/2006/main">
            <a:pPr algn="l">
              <a:def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Acceso al chat cuando haga falta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591EE-E2F1-4F84-9F0F-77BAE24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79C22-52CF-4EEE-9E52-19CE9AE2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Límites claros: Maca no reemplaza al profesional ni atiende emergencias. El producto necesita consentimiento claro y derivación responsable ante señales de riesgo.</a:t>
            </a:r>
          </a:p>
        </p:txBody>
      </p:sp>
    </p:spTree>
    <p:extLst>
      <p:ext uri="{BB962C8B-B14F-4D97-AF65-F5344CB8AC3E}">
        <p14:creationId xmlns:p14="http://schemas.microsoft.com/office/powerpoint/2010/main" val="1407155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19CF23-DEE6-49DE-96FF-24BE7A0C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6BF09-7D8C-4217-94F9-1817350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A66A0-527A-4DFE-AC28-996FF19C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Expansión por etapas, desde Argentina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5A8CF-ED9C-4AA3-B4D2-E1610FF6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BF6FE-2429-4825-8FCF-9ABCFAD9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E96BC-2DCD-4C5E-B30B-D00A91C7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Investor deck · Septiembre 2026 ·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A735E-AAE2-4F1A-9B16-E354256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La expansión se abre cuando el producto, la economía y la operación local están listos.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CB7B2-24C7-4274-850B-78BE75BC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DD352-24CE-43EE-9368-AF8538D7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E9F90-5E40-4445-8885-6E1E1A09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385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0899D-FEE8-4587-AA1C-0DF9A402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Argentina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99422-9741-4101-801F-B546B6E0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289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Validar producto y economía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8B633-7B09-43A4-B539-4CD6ED29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805A5-5401-4B21-84B7-4F730218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385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7FA46-2C6C-4FFD-ACEA-ECB18512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43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Uruguay + Chile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2E5B0-856F-4120-B1AF-C4EFB84F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8627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Primeros pilotos regionales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6F098-6B4A-4649-9B3D-95FA9A47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59032-97DB-4281-B680-7DCB9664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385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FF924-597C-4C2F-A104-EB844FB4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Colombia + México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A5992-F783-49BB-BC57-C9DB8813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Escalar en español con adaptación local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9EE3B-00A4-4043-8945-FE13DA0A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D35A-A4EA-4654-BC0B-104F0D03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385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10646-DB5D-4681-9ED2-F64FC859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43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Brasil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E929B-507C-4C14-BA3F-49FC9FCB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8627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Localización en portugués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EB746-47EB-4F9B-922F-BEEC929D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49A11-AEEA-49EC-A4AA-2DDC7443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385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2A731-6BD7-44D5-B936-94A30572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Latinos en EE. UU.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8ED1C-F00A-475B-8149-11FC41A0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Piloto estado por estado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DBF3F-DBD3-42C5-AE89-5B39B77A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Cada apertura depende de profesionales habilitados, pagos, privacidad y soporte local.</a:t>
            </a:r>
          </a:p>
        </p:txBody>
      </p:sp>
    </p:spTree>
    <p:extLst>
      <p:ext uri="{BB962C8B-B14F-4D97-AF65-F5344CB8AC3E}">
        <p14:creationId xmlns:p14="http://schemas.microsoft.com/office/powerpoint/2010/main" val="1859194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F1D74-AE4E-493D-A7AC-3F1F8F4C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D3097-9E6C-4906-BF06-DFDCCAD3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MODELO DE NEGOCIO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573BA-D145-45F3-BB1F-C960784B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7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La comisión por sesión financia el primer modelo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8CD26-9F94-4662-A1CF-C1C98083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AD452-1D94-4C1B-A221-E4767929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E784C-BAB7-4D2A-BFB5-AE60057C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Investor deck · Septiembre 2026 ·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108D3-1213-424C-B18F-6F3CC592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6CE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316CE8"/>
                </a:solidFill>
                <a:latin typeface="DejaVu Sans"/>
                <a:ea typeface="DejaVu Sans"/>
                <a:cs typeface="DejaVu Sans"/>
              </a:rPr>
              <a:t>Ingreso inicial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C4977-E710-4250-8A94-8A37966E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38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Comisión por sesión completada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CB9DD-BE9E-489C-B429-5069D785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Capas posteriores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8C1F4-918B-44A4-8367-A8DD56C8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38425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9A915-62FD-4FF9-BBA8-462A50F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527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Membresía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362F1-E0D1-406B-B5BB-A68DE93F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860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Después de probar continuidad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9B75D-F6BB-4022-816C-469C280D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24225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B7380-BBD9-4538-939F-86E4A5BB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Herramientas profesionales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13851-0E13-4DD1-BA22-959AA8A5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718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Con marketplace activo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06B25-0585-4BB8-B021-E0A3C5C4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0025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11D32-E7D7-411F-86B6-E908244E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243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B2B y nuevas categorías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9C83C-D508-4B73-8D6F-787E649F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576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Tras validar Argentina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2CDCC-19AB-4C81-8546-55608203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5727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83E7D-FCBC-4FBF-A53C-1E1A00F4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Ingreso mensual de Motivar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593EB-D2E2-4428-8565-8D3232A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pacientes activos × sesiones por mes × ticket × comisión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6636F-9911-4F6F-9A01-D29F8EDA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Precio publicado desde ARS 40.000 por sesión de 50 min; varía según profesional. Comisión por validar.</a:t>
            </a:r>
          </a:p>
        </p:txBody>
      </p:sp>
    </p:spTree>
    <p:extLst>
      <p:ext uri="{BB962C8B-B14F-4D97-AF65-F5344CB8AC3E}">
        <p14:creationId xmlns:p14="http://schemas.microsoft.com/office/powerpoint/2010/main" val="934644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5F53B-FF16-4537-8144-F27FE283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3E750-4082-43F4-A6EA-A4F9F7FE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ARGENTINA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B71E5-61C9-42E4-AD3D-9E7F124E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Densidad y repetición validan Argentina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D7A2C-024A-4D6F-A811-79F2A32D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9E538-9DEE-4F03-94FC-D0C4EF6D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FE377-E2E0-4029-AE46-A61C699A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Investor deck · Septiembre 2026 ·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A1341-4883-4E90-8AD0-7FE4792D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6CE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16CE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97C8E-0D81-4833-B92D-1F4559D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OFERTA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1D70F-9943-4357-94BC-92A5BC39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8602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30–50 psicólogos para el primer ciclo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5E742-160B-4065-80BD-CB7A2C30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956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Credenciales verificadas y disponibilidad en los próximos 7 días.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2D447-234F-4B1A-929B-A1C94027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8612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FE78E-A865-4926-82ED-91A3BDD0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70B4F-27BB-4D11-96DE-93B92939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00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ADQUISICIÓN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47968-EC6C-4FC5-9EED-D54882D0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Probar 2–3 canales con gasto acotado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ED8FF-D2C8-4E39-B76C-90219EC7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052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Referidos, contenido/SEO y campañas de performance; medir CAC por paciente pagador.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A3C5A-CC81-4818-A447-179AD09C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66B18-2655-42E9-AE48-D316CF7D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736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736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4A646-A086-4E24-994F-BAA0529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EXPERIENCIA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0C227-03B6-4888-863E-1287D275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Entrevistar las primeras cohortes pagadoras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DEB74-B5EE-43E3-A413-6E42DFF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149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Revisar conversión a primera sesión, asistencia, satisfacción y repetición.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1F1B2-20CF-4D50-A7F0-1D449C0B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572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8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E5933-EFC0-40E5-9FE4-253371C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848350"/>
            <a:ext cx="1019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Puerta de escala: margen positivo por sesión y 30 días sin bloqueos críticos.</a:t>
            </a:r>
          </a:p>
        </p:txBody>
      </p:sp>
    </p:spTree>
    <p:extLst>
      <p:ext uri="{BB962C8B-B14F-4D97-AF65-F5344CB8AC3E}">
        <p14:creationId xmlns:p14="http://schemas.microsoft.com/office/powerpoint/2010/main" val="229337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BA75D-B189-4803-83AC-A34A5EEE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34BAA-C108-4642-B4DB-24992C2A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ESTADO ACTUAL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AA182-4617-4D24-A1C1-F838640E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La validación económica empieza en Argentina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6D3D3-455D-4303-8E28-E67711C2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DCD98-5A83-4CD1-9CB8-C405B7E3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E4213-6409-4ECC-B327-B6C975BB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Investor deck · Septiembre 2026 ·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AE0EC-662A-4738-BCCF-C0FBD6B1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Lo que ya existe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312FD-9482-4A53-BF1F-A65C3C13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762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• Web pública y acceso a portales</a:t>
            </a:r>
          </a:p>
          <a:p xmlns:a="http://schemas.openxmlformats.org/drawingml/2006/main">
            <a:pPr algn="l">
              <a:def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• Matching y reserva como recorrido central</a:t>
            </a:r>
          </a:p>
          <a:p xmlns:a="http://schemas.openxmlformats.org/drawingml/2006/main">
            <a:pPr algn="l">
              <a:def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• Maca y precio de referencia visibles</a:t>
            </a:r>
          </a:p>
          <a:p xmlns:a="http://schemas.openxmlformats.org/drawingml/2006/main">
            <a:pPr algn="l">
              <a:def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• Transacciones piloto reportadas en Argentina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334DA-D29C-4125-BF9A-9F35F4C3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190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C0EAE-B741-42D6-9D60-05ACCF65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6CE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16CE8"/>
                </a:solidFill>
                <a:latin typeface="DejaVu Sans"/>
                <a:ea typeface="DejaVu Sans"/>
                <a:cs typeface="DejaVu Sans"/>
              </a:rPr>
              <a:t>Lo que debe entrar al tablero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AE71D-D68C-4897-A7FB-5535E0A6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Pacientes pagadores</a:t>
            </a:r>
          </a:p>
          <a:p xmlns:a="http://schemas.openxmlformats.org/drawingml/2006/main">
            <a:pPr algn="l">
              <a:def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Profesionales activos con turnos</a:t>
            </a:r>
          </a:p>
          <a:p xmlns:a="http://schemas.openxmlformats.org/drawingml/2006/main">
            <a:pPr algn="l">
              <a:def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Matching a primera sesión pagada</a:t>
            </a:r>
          </a:p>
          <a:p xmlns:a="http://schemas.openxmlformats.org/drawingml/2006/main">
            <a:pPr algn="l">
              <a:def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Repetición a 30 y 90 días</a:t>
            </a:r>
          </a:p>
          <a:p xmlns:a="http://schemas.openxmlformats.org/drawingml/2006/main">
            <a:pPr algn="l">
              <a:def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CAC y contribución por sesión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2D0E9-D888-405F-905F-DFAFBFBE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La web muestra testimonios públicos, una señal cualitativa que no reemplaza cohortes ni métricas de retención.</a:t>
            </a:r>
          </a:p>
        </p:txBody>
      </p:sp>
    </p:spTree>
    <p:extLst>
      <p:ext uri="{BB962C8B-B14F-4D97-AF65-F5344CB8AC3E}">
        <p14:creationId xmlns:p14="http://schemas.microsoft.com/office/powerpoint/2010/main" val="1988188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E49EF-5C3B-4DF6-AA56-1E407326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4292D-FE1C-41BA-8A79-E335A6F2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SENSIBILIDAD ILUSTRATIVA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71666-FAF0-45CF-AFB1-E92094E9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La comisión escala con pacientes activos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ECCB3-0440-41D0-AD2E-27EC2BAE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A02D7-F398-4FEB-90B0-1FF26AFF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FAFE3-EB57-4773-8D22-7624CF43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Investor deck · Septiembre 2026 ·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6458A-4E29-40C7-833A-11D741A3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Comisión teórica mensual (millones de ARS)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38200" y="238125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a138ded11443a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C3B35-3572-43B2-ACAD-8A8B4A1A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857500" cy="32956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83571-12DA-45E0-A602-D16CDE5E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8A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8A72"/>
                </a:solidFill>
                <a:latin typeface="DejaVu Sans"/>
                <a:ea typeface="DejaVu Sans"/>
                <a:cs typeface="DejaVu Sans"/>
              </a:rPr>
              <a:t>Supuestos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38F8B-9B2D-4D98-B8EF-4FB93068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21907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ARS 40.000</a:t>
            </a:r>
          </a:p>
          <a:p xmlns:a="http://schemas.openxmlformats.org/drawingml/2006/main">
            <a:pPr algn="l">
              <a:def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por sesión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2 sesiones</a:t>
            </a:r>
          </a:p>
          <a:p xmlns:a="http://schemas.openxmlformats.org/drawingml/2006/main">
            <a:pPr algn="l">
              <a:def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por paciente al 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20% de comisión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25A6D-E9BB-4944-993D-4843DD4C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Sensibilidad, no forecast. Precio de entrada publicado y take rate supuesto. Falta validar precio medio, comisión acordada, repetición y costos.</a:t>
            </a:r>
          </a:p>
        </p:txBody>
      </p:sp>
    </p:spTree>
    <p:extLst>
      <p:ext uri="{BB962C8B-B14F-4D97-AF65-F5344CB8AC3E}">
        <p14:creationId xmlns:p14="http://schemas.microsoft.com/office/powerpoint/2010/main" val="1803404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C3980-5A01-4F4E-805B-A791C660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DF4A6-18BE-4FA5-8173-63D91164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PLAN DE INVERSIÓN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D0E20-6487-4D52-A7E7-A27D9435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El capital financia validación y expansión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9C9D6-1478-4104-98E1-3B46E06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1CB15-2B3D-451D-9665-10490453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3E53E-853B-4F15-A97C-150A31A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Investor deck · Septiembre 2026 ·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30822-A003-45CE-9081-5FA4792E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Hitos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33115-D975-44F7-B93C-07D44B76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6C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316CE8"/>
                </a:solidFill>
                <a:latin typeface="DejaVu Sans"/>
                <a:ea typeface="DejaVu Sans"/>
                <a:cs typeface="DejaVu Sans"/>
              </a:rPr>
              <a:t>0–3 meses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C159E-6572-44D6-9E81-7AC61F75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Estabilidad, pagos, QA y privacidad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6A715-7840-4D01-B73F-62BB7CC3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B7A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30B7A6"/>
                </a:solidFill>
                <a:latin typeface="DejaVu Sans"/>
                <a:ea typeface="DejaVu Sans"/>
                <a:cs typeface="DejaVu Sans"/>
              </a:rPr>
              <a:t>3–9 meses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E1707-7DE1-4724-AD14-880E2405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99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Cohortes y economía unitaria en Argentina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EE580-D0A0-4E30-B30E-61ADEB76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736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27367"/>
                </a:solidFill>
                <a:latin typeface="DejaVu Sans"/>
                <a:ea typeface="DejaVu Sans"/>
                <a:cs typeface="DejaVu Sans"/>
              </a:rPr>
              <a:t>9–18 meses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379B1-9A7B-4637-94C7-06978995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481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Adquisición repetible y retención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32714-E8C2-49A3-BC16-B02F7A9E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AC3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E9AC38"/>
                </a:solidFill>
                <a:latin typeface="DejaVu Sans"/>
                <a:ea typeface="DejaVu Sans"/>
                <a:cs typeface="DejaVu Sans"/>
              </a:rPr>
              <a:t>18–36 meses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B0011-6618-48F8-B609-279A1601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862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Uruguay/Chile y siguientes pilotos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8571D-E577-4748-8F03-514ED74F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145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BC35C-E991-404C-B9C3-33E3E2AF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6CE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316CE8"/>
                </a:solidFill>
                <a:latin typeface="DejaVu Sans"/>
                <a:ea typeface="DejaVu Sans"/>
                <a:cs typeface="DejaVu Sans"/>
              </a:rPr>
              <a:t>Ronda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F9135-3A55-475B-BA81-4EA58F8E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9850"/>
            <a:ext cx="352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Monto: [definir]</a:t>
            </a:r>
          </a:p>
          <a:p xmlns:a="http://schemas.openxmlformats.org/drawingml/2006/main">
            <a:pPr algn="l">
              <a:defRPr sz="180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Runway: [definir]</a:t>
            </a:r>
          </a:p>
          <a:p xmlns:a="http://schemas.openxmlformats.org/drawingml/2006/main">
            <a:pPr algn="l">
              <a:defRPr sz="1800" b="1">
                <a:solidFill>
                  <a:srgbClr val="1728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283C"/>
                </a:solidFill>
                <a:latin typeface="DejaVu Sans"/>
                <a:ea typeface="DejaVu Sans"/>
                <a:cs typeface="DejaVu Sans"/>
              </a:rPr>
              <a:t>Hitos financiados: [definir]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F0AE1-F7E4-4482-9046-109F83B2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Uso sugerido del capital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B8758-E6DE-45E9-A29B-6FFD30AC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8150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35% producto y seguridad</a:t>
            </a:r>
          </a:p>
          <a:p xmlns:a="http://schemas.openxmlformats.org/drawingml/2006/main">
            <a:pPr algn="l">
              <a:def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25% oferta y soporte</a:t>
            </a:r>
          </a:p>
          <a:p xmlns:a="http://schemas.openxmlformats.org/drawingml/2006/main">
            <a:pPr algn="l">
              <a:def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20% adquisición</a:t>
            </a:r>
          </a:p>
          <a:p xmlns:a="http://schemas.openxmlformats.org/drawingml/2006/main">
            <a:pPr algn="l">
              <a:def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15% compliance y localización</a:t>
            </a:r>
          </a:p>
          <a:p xmlns:a="http://schemas.openxmlformats.org/drawingml/2006/main">
            <a:pPr algn="l">
              <a:def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344457"/>
                </a:solidFill>
                <a:latin typeface="DejaVu Sans"/>
                <a:ea typeface="DejaVu Sans"/>
                <a:cs typeface="DejaVu Sans"/>
              </a:rPr>
              <a:t>5% reserva operativa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D3A35-4EBD-49BD-A122-5E5CCBAA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7C8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F7C8C"/>
                </a:solidFill>
                <a:latin typeface="DejaVu Sans"/>
                <a:ea typeface="DejaVu Sans"/>
                <a:cs typeface="DejaVu Sans"/>
              </a:rPr>
              <a:t>Equipo fundador, roles y asesores clínicos: completar nombres, experiencia y dedicación antes de compartir.</a:t>
            </a:r>
          </a:p>
        </p:txBody>
      </p:sp>
    </p:spTree>
    <p:extLst>
      <p:ext uri="{BB962C8B-B14F-4D97-AF65-F5344CB8AC3E}">
        <p14:creationId xmlns:p14="http://schemas.microsoft.com/office/powerpoint/2010/main" val="20374291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1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55159-28B2-4A4C-A208-EC30DFC5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717B8-3637-493E-944E-6765F65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A6384-5C2D-41C4-B9F1-1618F2C9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MOTIVARCARE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3618C-E671-4181-8D55-432E3EDB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962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8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Estamos construyendo una forma más simple de empezar terapia y sostener el proceso.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524C1-F952-461F-AC0E-00D7CE62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9906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3E0E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3E0ED"/>
                </a:solidFill>
                <a:latin typeface="DejaVu Sans"/>
                <a:ea typeface="DejaVu Sans"/>
                <a:cs typeface="DejaVu Sans"/>
              </a:rPr>
              <a:t>Empezamos por psicología online en Argentina. Conectamos a cada persona con un profesional compatible, facilitamos la reserva y sumamos herramientas de apoyo entre sesiones. Ahora buscamos validar continuidad y economía unitaria antes de expandir país por país.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441D7-6D9B-4BFE-AE56-DB3A8268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44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93A7F-2F69-4C02-93A4-022F2824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Capital y socios estratégicos para el siguiente tramo.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39130-7125-4BE7-BBBF-9D47A083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722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2D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FC2D5"/>
                </a:solidFill>
                <a:latin typeface="DejaVu Sans"/>
                <a:ea typeface="DejaVu Sans"/>
                <a:cs typeface="DejaVu Sans"/>
              </a:rPr>
              <a:t>[Nombre y contacto del equipo]</a:t>
            </a:r>
          </a:p>
        </p:txBody>
      </p:sp>
    </p:spTree>
    <p:extLst>
      <p:ext uri="{BB962C8B-B14F-4D97-AF65-F5344CB8AC3E}">
        <p14:creationId xmlns:p14="http://schemas.microsoft.com/office/powerpoint/2010/main" val="2056107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2026-09-29T15:23:48.8530000Z</dcterms:created>
  <dcterms:modified xsi:type="dcterms:W3CDTF">2026-09-29T15:23:48.8530000Z</dcterms:modified>
</coreProperties>
</file>